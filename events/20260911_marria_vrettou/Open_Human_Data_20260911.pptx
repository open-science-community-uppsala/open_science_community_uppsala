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D15E05-7E15-42CA-A54D-B6B81E62B0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47DFDA-67A1-41A2-8E24-6B3496BD10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9C1DF3F-9D4C-41A4-9DBF-C01D889714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C35934-3683-4247-93AE-437C2013FC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3CE5EA7-47E0-41D9-85D3-E88A50C68D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6C22BF1-FF9C-4733-95A0-37BFCB2240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77FCD54-AA4F-4481-BF67-8596967378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4381A4B-E94E-4C07-BCE4-4CFC994819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5E7ED44-7236-473A-963A-2D24B50E85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373D68C-42C4-45C0-8FD0-9295CEB5D1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6699F7F-79A2-43E4-AD03-4CF39E4275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E482497-E933-4B67-8E81-0A6567FEB7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0444790-F574-4A6D-9678-77D2BF0A838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937F176-EA52-4ED9-B848-EBCEFB9EAF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7FDC2EA1-AA8F-4FEB-ABB2-4F9383C774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46C81E35-EE91-4C4D-9779-E93945A1C9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2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sv-SE" sz="5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5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D32B32-B08A-4791-9EBA-AA387C302435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5DAC74-7E35-4470-9021-A5B8131DACD3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4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6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0D3C71-6F2B-4942-BB38-26F2E510F2DE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BF4E0B-F2B9-4433-9237-AFC1A91F2026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6FD41C-20D0-45EA-A8AC-6FBA9A4C12E5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2400" spc="-1" strike="noStrike">
                <a:solidFill>
                  <a:schemeClr val="accent1"/>
                </a:solidFill>
                <a:latin typeface="Trebuchet MS"/>
              </a:rPr>
              <a:t>Klicka här för att ändra format på bakgrundstexten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17FC4F-8665-40EF-A2C6-F4997A3D4746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84DBB2-55C8-4AF1-B212-9F6111519DC8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B3A0D7-B9CB-4F2A-B797-1B71AB6F8642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027D11-86B2-45AA-9230-2CE079361927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40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4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20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753A5A-468D-4A23-A96E-CDC598DA01CD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F6FA5E-288C-4497-9BCF-30C4A413DF86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F27B6C-2EF0-4F17-8A74-544BF1984972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93CE48E-EA28-4DC9-9C7A-4C67B260F36E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3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48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20C7F5-EE61-4D2F-92A9-C8CCD3C4CF31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20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2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två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tre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fyra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Nivå fem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9C652C-DFEF-4C7D-BB71-2BCEF8C573CC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2400" spc="-1" strike="noStrike">
                <a:solidFill>
                  <a:schemeClr val="accent1"/>
                </a:solidFill>
                <a:latin typeface="Trebuchet MS"/>
              </a:rPr>
              <a:t>Klicka här för att ändra mall för rubrikformat</a:t>
            </a:r>
            <a:endParaRPr b="0" lang="en-US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600" spc="-1" strike="noStrike">
                <a:solidFill>
                  <a:schemeClr val="dk1"/>
                </a:solidFill>
                <a:latin typeface="Trebuchet MS"/>
              </a:rPr>
              <a:t>Klicka på ikonen för att lägga till en bild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Klicka här för att ändra format på bakgrundstexten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A369AA-7F21-41CB-A1CA-67318FAD69A3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doi.org/10.17044/scilifelab.28882028" TargetMode="External"/><Relationship Id="rId2" Type="http://schemas.openxmlformats.org/officeDocument/2006/relationships/hyperlink" Target="https://gdpr.eu/" TargetMode="External"/><Relationship Id="rId3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skadden.com/insights/publications/2025/11/in-a-landmark-decision-eu-court-clarifies" TargetMode="External"/><Relationship Id="rId2" Type="http://schemas.openxmlformats.org/officeDocument/2006/relationships/hyperlink" Target="https://www.edpb.europa.eu/public-consultations/guidelines-022026-on-anonymisation_en#no-back" TargetMode="External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fega.nbis.se/" TargetMode="External"/><Relationship Id="rId2" Type="http://schemas.openxmlformats.org/officeDocument/2006/relationships/hyperlink" Target="https://fega.nbis.se/" TargetMode="External"/><Relationship Id="rId3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health.ec.europa.eu/ehealth-digital-health-and-care/european-health-data-space-regulation-ehds_en" TargetMode="External"/><Relationship Id="rId2" Type="http://schemas.openxmlformats.org/officeDocument/2006/relationships/hyperlink" Target="https://edics.eu/" TargetMode="External"/><Relationship Id="rId3" Type="http://schemas.openxmlformats.org/officeDocument/2006/relationships/hyperlink" Target="https://framework.onemilliongenomes.eu/" TargetMode="External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sv-SE" sz="5400" spc="-1" strike="noStrike">
                <a:solidFill>
                  <a:schemeClr val="accent1"/>
                </a:solidFill>
                <a:latin typeface="Trebuchet MS"/>
              </a:rPr>
              <a:t>Open Human Data</a:t>
            </a:r>
            <a:endParaRPr b="0" lang="en-US" sz="5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1506960" y="4050720"/>
            <a:ext cx="7766640" cy="109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20000"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Can we talk about open human data in the era of GDPR?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How Open Science and the OSL law (offentlighets- och sekretesslagen) come together?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Are there solutions or initiatives for data sharing within and across borders?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ruta 3"/>
          <p:cNvSpPr/>
          <p:nvPr/>
        </p:nvSpPr>
        <p:spPr>
          <a:xfrm>
            <a:off x="628200" y="5832360"/>
            <a:ext cx="62733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sv-SE" sz="16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Trebuchet MS"/>
              </a:rPr>
              <a:t>Open Science Community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sv-SE" sz="16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Trebuchet MS"/>
              </a:rPr>
              <a:t>Uppsala - 2026-09-11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sv-SE" sz="16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Trebuchet MS"/>
              </a:rPr>
              <a:t>Maria Vrettou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9" name="textruta 4"/>
          <p:cNvSpPr/>
          <p:nvPr/>
        </p:nvSpPr>
        <p:spPr>
          <a:xfrm>
            <a:off x="3051360" y="3246480"/>
            <a:ext cx="6102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sv-SE" sz="1800" spc="-1" strike="noStrike">
                <a:solidFill>
                  <a:schemeClr val="dk1"/>
                </a:solidFill>
                <a:latin typeface="Trebuchet MS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GB" sz="3600" spc="-1" strike="noStrike">
                <a:solidFill>
                  <a:schemeClr val="accent1"/>
                </a:solidFill>
                <a:latin typeface="Trebuchet MS"/>
              </a:rPr>
              <a:t>Human data - categories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1" name="Google Shape;144;p25"/>
          <p:cNvSpPr/>
          <p:nvPr/>
        </p:nvSpPr>
        <p:spPr>
          <a:xfrm rot="10800000">
            <a:off x="816480" y="2244240"/>
            <a:ext cx="4474080" cy="338976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6aa8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145;p25"/>
          <p:cNvSpPr/>
          <p:nvPr/>
        </p:nvSpPr>
        <p:spPr>
          <a:xfrm rot="600">
            <a:off x="3400200" y="3463560"/>
            <a:ext cx="1778040" cy="171648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rgbClr val="e6b91e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Trebuchet MS"/>
              </a:rPr>
              <a:t>Anonymized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146;p25"/>
          <p:cNvSpPr/>
          <p:nvPr/>
        </p:nvSpPr>
        <p:spPr>
          <a:xfrm>
            <a:off x="927360" y="3463200"/>
            <a:ext cx="2341800" cy="1716840"/>
          </a:xfrm>
          <a:prstGeom prst="roundRect">
            <a:avLst>
              <a:gd name="adj" fmla="val 16667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rgbClr val="2c3c43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Trebuchet MS"/>
              </a:rPr>
              <a:t>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147;p25"/>
          <p:cNvSpPr/>
          <p:nvPr/>
        </p:nvSpPr>
        <p:spPr>
          <a:xfrm>
            <a:off x="1179000" y="4241160"/>
            <a:ext cx="1838520" cy="74772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28575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Trebuchet MS"/>
              </a:rPr>
              <a:t>Sensitive 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49;p25"/>
          <p:cNvSpPr/>
          <p:nvPr/>
        </p:nvSpPr>
        <p:spPr>
          <a:xfrm rot="21598800">
            <a:off x="2253960" y="2591640"/>
            <a:ext cx="159768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Human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51;p25"/>
          <p:cNvSpPr/>
          <p:nvPr/>
        </p:nvSpPr>
        <p:spPr>
          <a:xfrm>
            <a:off x="5524200" y="2251080"/>
            <a:ext cx="3654000" cy="9241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solidFill>
              <a:srgbClr val="2c3c43">
                <a:lumMod val="40000"/>
                <a:lumOff val="60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GB" sz="1800" spc="-1" strike="noStrike">
                <a:solidFill>
                  <a:srgbClr val="171616"/>
                </a:solidFill>
                <a:latin typeface="Trebuchet MS"/>
              </a:rPr>
              <a:t>Personal data:</a:t>
            </a:r>
            <a:r>
              <a:rPr b="0" lang="en-GB" sz="1800" spc="-1" strike="noStrike">
                <a:solidFill>
                  <a:srgbClr val="171616"/>
                </a:solidFill>
                <a:latin typeface="Trebuchet MS"/>
              </a:rPr>
              <a:t> any information that identifies directly or indirectly a living person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152;p25"/>
          <p:cNvSpPr/>
          <p:nvPr/>
        </p:nvSpPr>
        <p:spPr>
          <a:xfrm>
            <a:off x="5540040" y="3293640"/>
            <a:ext cx="3654000" cy="121356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ffffff">
                <a:lumMod val="6500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GB" sz="1800" spc="-1" strike="noStrike">
                <a:solidFill>
                  <a:srgbClr val="171616"/>
                </a:solidFill>
                <a:latin typeface="Trebuchet MS"/>
              </a:rPr>
              <a:t>Sensitive personal data:</a:t>
            </a:r>
            <a:r>
              <a:rPr b="0" lang="en-GB" sz="1800" spc="-1" strike="noStrike">
                <a:solidFill>
                  <a:srgbClr val="171616"/>
                </a:solidFill>
                <a:latin typeface="Trebuchet MS"/>
              </a:rPr>
              <a:t> special categories of personal data (i.e. health, genomic etc) that need extra protection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53;p25"/>
          <p:cNvSpPr/>
          <p:nvPr/>
        </p:nvSpPr>
        <p:spPr>
          <a:xfrm>
            <a:off x="5549400" y="4647240"/>
            <a:ext cx="3636000" cy="12920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GB" sz="1800" spc="-1" strike="noStrike">
                <a:solidFill>
                  <a:srgbClr val="171616"/>
                </a:solidFill>
                <a:latin typeface="Trebuchet MS"/>
              </a:rPr>
              <a:t>Anonymized data:</a:t>
            </a:r>
            <a:r>
              <a:rPr b="0" lang="en-GB" sz="1800" spc="-1" strike="noStrike">
                <a:solidFill>
                  <a:srgbClr val="171616"/>
                </a:solidFill>
                <a:latin typeface="Trebuchet MS"/>
              </a:rPr>
              <a:t> personal data that has been stripped of any personally identifiable information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GB" sz="3600" spc="-1" strike="noStrike">
                <a:solidFill>
                  <a:schemeClr val="accent1"/>
                </a:solidFill>
                <a:latin typeface="Trebuchet MS"/>
              </a:rPr>
              <a:t>What is personal data?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0" name="Google Shape;159;p26"/>
          <p:cNvSpPr/>
          <p:nvPr/>
        </p:nvSpPr>
        <p:spPr>
          <a:xfrm>
            <a:off x="564480" y="2210400"/>
            <a:ext cx="2472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171616"/>
                </a:solidFill>
                <a:latin typeface="Trebuchet MS"/>
              </a:rPr>
              <a:t>Not</a:t>
            </a: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 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160;p26"/>
          <p:cNvSpPr/>
          <p:nvPr/>
        </p:nvSpPr>
        <p:spPr>
          <a:xfrm>
            <a:off x="6408720" y="2210400"/>
            <a:ext cx="284832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171616"/>
                </a:solidFill>
                <a:latin typeface="Trebuchet MS"/>
              </a:rPr>
              <a:t>Probably</a:t>
            </a: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 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61;p26"/>
          <p:cNvSpPr/>
          <p:nvPr/>
        </p:nvSpPr>
        <p:spPr>
          <a:xfrm>
            <a:off x="3791880" y="2108880"/>
            <a:ext cx="24724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GB" sz="2000" spc="-1" strike="noStrike">
                <a:solidFill>
                  <a:srgbClr val="171616"/>
                </a:solidFill>
                <a:latin typeface="Trebuchet MS"/>
              </a:rPr>
              <a:t>Probably not </a:t>
            </a: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62;p26"/>
          <p:cNvSpPr/>
          <p:nvPr/>
        </p:nvSpPr>
        <p:spPr>
          <a:xfrm>
            <a:off x="3790440" y="3811680"/>
            <a:ext cx="1978560" cy="6652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Country of Birth: </a:t>
            </a:r>
            <a:br>
              <a:rPr sz="1800"/>
            </a:b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‘Greece’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163;p26"/>
          <p:cNvSpPr/>
          <p:nvPr/>
        </p:nvSpPr>
        <p:spPr>
          <a:xfrm>
            <a:off x="6775920" y="4442040"/>
            <a:ext cx="1978560" cy="63396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Date of birth: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</a:t>
            </a: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1982-12-12’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64;p26"/>
          <p:cNvSpPr/>
          <p:nvPr/>
        </p:nvSpPr>
        <p:spPr>
          <a:xfrm>
            <a:off x="3790440" y="3086280"/>
            <a:ext cx="1978560" cy="6652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Name:</a:t>
            </a:r>
            <a:br>
              <a:rPr sz="1800"/>
            </a:b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‘Maria Vrettou’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165;p26"/>
          <p:cNvSpPr/>
          <p:nvPr/>
        </p:nvSpPr>
        <p:spPr>
          <a:xfrm>
            <a:off x="6775920" y="2952360"/>
            <a:ext cx="1978560" cy="63396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Name:</a:t>
            </a:r>
            <a:br>
              <a:rPr sz="1800"/>
            </a:b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‘Maria Vrettou’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66;p26"/>
          <p:cNvSpPr/>
          <p:nvPr/>
        </p:nvSpPr>
        <p:spPr>
          <a:xfrm>
            <a:off x="6775920" y="3740760"/>
            <a:ext cx="1978560" cy="63396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Country of Birth: </a:t>
            </a:r>
            <a:br>
              <a:rPr sz="1800"/>
            </a:b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‘Greece’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67;p26"/>
          <p:cNvSpPr/>
          <p:nvPr/>
        </p:nvSpPr>
        <p:spPr>
          <a:xfrm>
            <a:off x="693360" y="3100320"/>
            <a:ext cx="2081160" cy="65124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Name:</a:t>
            </a:r>
            <a:br>
              <a:rPr sz="1800"/>
            </a:br>
            <a:r>
              <a:rPr b="0" lang="en-GB" sz="1800" spc="-1" strike="noStrike">
                <a:solidFill>
                  <a:schemeClr val="dk1"/>
                </a:solidFill>
                <a:latin typeface="Trebuchet MS"/>
              </a:rPr>
              <a:t>‘Maria Vrettou’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168;p26"/>
          <p:cNvSpPr/>
          <p:nvPr/>
        </p:nvSpPr>
        <p:spPr>
          <a:xfrm>
            <a:off x="1139040" y="5501160"/>
            <a:ext cx="739692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Data </a:t>
            </a:r>
            <a:r>
              <a:rPr b="0" i="1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may</a:t>
            </a:r>
            <a:r>
              <a:rPr b="0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 or </a:t>
            </a:r>
            <a:r>
              <a:rPr b="1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may not </a:t>
            </a:r>
            <a:r>
              <a:rPr b="0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be regarded as </a:t>
            </a:r>
            <a:br>
              <a:rPr sz="2100"/>
            </a:br>
            <a:r>
              <a:rPr b="0" lang="en-GB" sz="2100" spc="-1" strike="noStrike">
                <a:solidFill>
                  <a:schemeClr val="accent2"/>
                </a:solidFill>
                <a:highlight>
                  <a:srgbClr val="ffffff"/>
                </a:highlight>
                <a:latin typeface="Trebuchet MS"/>
              </a:rPr>
              <a:t>personal data depending on the context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666"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accent1"/>
                </a:solidFill>
                <a:latin typeface="Trebuchet MS"/>
              </a:rPr>
              <a:t>What is sensitive personal data?</a:t>
            </a:r>
            <a:br>
              <a:rPr sz="4000"/>
            </a:br>
            <a:br>
              <a:rPr sz="3600"/>
            </a:br>
            <a:endParaRPr b="0" lang="en-US" sz="4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11" name="Google Shape;182;p27"/>
          <p:cNvSpPr/>
          <p:nvPr/>
        </p:nvSpPr>
        <p:spPr>
          <a:xfrm>
            <a:off x="1400400" y="1814400"/>
            <a:ext cx="722628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71616"/>
                </a:solidFill>
                <a:latin typeface="Trebuchet MS"/>
              </a:rPr>
              <a:t>Special categories of personal data defined by General Data Protection Regulation - </a:t>
            </a:r>
            <a:r>
              <a:rPr b="0" i="1" lang="en-US" sz="2000" spc="-1" strike="noStrike">
                <a:solidFill>
                  <a:srgbClr val="171616"/>
                </a:solidFill>
                <a:latin typeface="Trebuchet MS"/>
              </a:rPr>
              <a:t>GDPR</a:t>
            </a:r>
            <a:r>
              <a:rPr b="0" lang="en-US" sz="2000" spc="-1" strike="noStrike">
                <a:solidFill>
                  <a:srgbClr val="171616"/>
                </a:solidFill>
                <a:latin typeface="Trebuchet MS"/>
              </a:rPr>
              <a:t> </a:t>
            </a:r>
            <a:r>
              <a:rPr b="0" i="1" lang="en-US" sz="2000" spc="-1" strike="noStrike">
                <a:solidFill>
                  <a:srgbClr val="171616"/>
                </a:solidFill>
                <a:latin typeface="Trebuchet MS"/>
              </a:rPr>
              <a:t>(Art. 9)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ruta 2"/>
          <p:cNvSpPr/>
          <p:nvPr/>
        </p:nvSpPr>
        <p:spPr>
          <a:xfrm>
            <a:off x="1105200" y="2830680"/>
            <a:ext cx="65037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Heath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Genetic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Sexual orientation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Religious beliefs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Ethnicity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Biometric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sv-SE" sz="1800" spc="-1" strike="noStrike">
                <a:solidFill>
                  <a:schemeClr val="dk1"/>
                </a:solidFill>
                <a:latin typeface="Trebuchet MS"/>
              </a:rPr>
              <a:t>Political beliefs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GB" sz="3600" spc="-1" strike="noStrike">
                <a:solidFill>
                  <a:schemeClr val="accent1"/>
                </a:solidFill>
                <a:latin typeface="Trebuchet MS"/>
              </a:rPr>
              <a:t>From personal to sensitive data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14" name="Google Shape;189;p28"/>
          <p:cNvSpPr/>
          <p:nvPr/>
        </p:nvSpPr>
        <p:spPr>
          <a:xfrm>
            <a:off x="948600" y="1697760"/>
            <a:ext cx="21135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Google Shape;190;p28"/>
          <p:cNvSpPr/>
          <p:nvPr/>
        </p:nvSpPr>
        <p:spPr>
          <a:xfrm>
            <a:off x="6956280" y="1703160"/>
            <a:ext cx="21135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Sensitive</a:t>
            </a:r>
            <a:br>
              <a:rPr sz="2000"/>
            </a:b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personal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191;p28"/>
          <p:cNvSpPr/>
          <p:nvPr/>
        </p:nvSpPr>
        <p:spPr>
          <a:xfrm>
            <a:off x="3984120" y="1703160"/>
            <a:ext cx="2050200" cy="81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Not personal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2000" spc="-1" strike="noStrike">
                <a:solidFill>
                  <a:srgbClr val="171616"/>
                </a:solidFill>
                <a:latin typeface="Trebuchet MS"/>
              </a:rPr>
              <a:t>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7" name="Google Shape;192;p28"/>
          <p:cNvGrpSpPr/>
          <p:nvPr/>
        </p:nvGrpSpPr>
        <p:grpSpPr>
          <a:xfrm>
            <a:off x="948600" y="2959920"/>
            <a:ext cx="2113560" cy="1765080"/>
            <a:chOff x="948600" y="2959920"/>
            <a:chExt cx="2113560" cy="1765080"/>
          </a:xfrm>
        </p:grpSpPr>
        <p:sp>
          <p:nvSpPr>
            <p:cNvPr id="318" name="Google Shape;193;p28"/>
            <p:cNvSpPr/>
            <p:nvPr/>
          </p:nvSpPr>
          <p:spPr>
            <a:xfrm>
              <a:off x="948600" y="295992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Name:</a:t>
              </a:r>
              <a:br>
                <a:rPr sz="1600"/>
              </a:b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‘Maria Vrettou’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9" name="Google Shape;194;p28"/>
            <p:cNvSpPr/>
            <p:nvPr/>
          </p:nvSpPr>
          <p:spPr>
            <a:xfrm>
              <a:off x="948600" y="356904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Country of Birth: ‘Greece’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0" name="Google Shape;195;p28"/>
            <p:cNvSpPr/>
            <p:nvPr/>
          </p:nvSpPr>
          <p:spPr>
            <a:xfrm>
              <a:off x="948600" y="417852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Date of birth: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‘</a:t>
              </a: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1982-12-12’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1" name="Google Shape;196;p28"/>
          <p:cNvSpPr/>
          <p:nvPr/>
        </p:nvSpPr>
        <p:spPr>
          <a:xfrm>
            <a:off x="3952440" y="3569040"/>
            <a:ext cx="2113560" cy="54648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GB" sz="1600" spc="-1" strike="noStrike">
                <a:solidFill>
                  <a:schemeClr val="dk1"/>
                </a:solidFill>
                <a:latin typeface="Trebuchet MS"/>
              </a:rPr>
              <a:t>Diagnosis:</a:t>
            </a:r>
            <a:br>
              <a:rPr sz="1600"/>
            </a:br>
            <a:r>
              <a:rPr b="0" lang="en-GB" sz="1600" spc="-1" strike="noStrike">
                <a:solidFill>
                  <a:schemeClr val="dk1"/>
                </a:solidFill>
                <a:latin typeface="Trebuchet MS"/>
              </a:rPr>
              <a:t>‘Hypertension’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2" name="Google Shape;197;p28"/>
          <p:cNvGrpSpPr/>
          <p:nvPr/>
        </p:nvGrpSpPr>
        <p:grpSpPr>
          <a:xfrm>
            <a:off x="6956280" y="2659320"/>
            <a:ext cx="2113560" cy="2365920"/>
            <a:chOff x="6956280" y="2659320"/>
            <a:chExt cx="2113560" cy="2365920"/>
          </a:xfrm>
        </p:grpSpPr>
        <p:sp>
          <p:nvSpPr>
            <p:cNvPr id="323" name="Google Shape;198;p28"/>
            <p:cNvSpPr/>
            <p:nvPr/>
          </p:nvSpPr>
          <p:spPr>
            <a:xfrm>
              <a:off x="6956280" y="447876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Diagnosis:</a:t>
              </a:r>
              <a:br>
                <a:rPr sz="1600"/>
              </a:b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‘Hypertension’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4" name="Google Shape;199;p28"/>
            <p:cNvSpPr/>
            <p:nvPr/>
          </p:nvSpPr>
          <p:spPr>
            <a:xfrm>
              <a:off x="6956280" y="265932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Name:</a:t>
              </a:r>
              <a:br>
                <a:rPr sz="1600"/>
              </a:b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‘Maria Vrettou’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5" name="Google Shape;200;p28"/>
            <p:cNvSpPr/>
            <p:nvPr/>
          </p:nvSpPr>
          <p:spPr>
            <a:xfrm>
              <a:off x="6956280" y="326880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Country of Birth: ‘Greece’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6" name="Google Shape;201;p28"/>
            <p:cNvSpPr/>
            <p:nvPr/>
          </p:nvSpPr>
          <p:spPr>
            <a:xfrm>
              <a:off x="6956280" y="3877920"/>
              <a:ext cx="2113560" cy="546480"/>
            </a:xfrm>
            <a:prstGeom prst="roundRect">
              <a:avLst>
                <a:gd name="adj" fmla="val 16667"/>
              </a:avLst>
            </a:prstGeom>
            <a:solidFill>
              <a:srgbClr val="d0e0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Date of birth: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 defTabSz="4572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‘</a:t>
              </a:r>
              <a:r>
                <a:rPr b="0" lang="en-GB" sz="1600" spc="-1" strike="noStrike">
                  <a:solidFill>
                    <a:schemeClr val="dk1"/>
                  </a:solidFill>
                  <a:latin typeface="Trebuchet MS"/>
                </a:rPr>
                <a:t>1982-12-12’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7" name="Google Shape;202;p28"/>
          <p:cNvSpPr/>
          <p:nvPr/>
        </p:nvSpPr>
        <p:spPr>
          <a:xfrm>
            <a:off x="3252240" y="3604680"/>
            <a:ext cx="510120" cy="475920"/>
          </a:xfrm>
          <a:prstGeom prst="mathPlus">
            <a:avLst>
              <a:gd name="adj1" fmla="val 23520"/>
            </a:avLst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6160" bIns="561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28" name="Google Shape;203;p28"/>
          <p:cNvSpPr/>
          <p:nvPr/>
        </p:nvSpPr>
        <p:spPr>
          <a:xfrm>
            <a:off x="6256080" y="3604680"/>
            <a:ext cx="510120" cy="475920"/>
          </a:xfrm>
          <a:prstGeom prst="mathEqual">
            <a:avLst>
              <a:gd name="adj1" fmla="val 23520"/>
              <a:gd name="adj2" fmla="val 11760"/>
            </a:avLst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" dur="indefinite" restart="never" nodeType="tmRoot">
          <p:childTnLst>
            <p:seq>
              <p:cTn id="58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How the </a:t>
            </a:r>
            <a:r>
              <a:rPr b="0" i="1" lang="sv-SE" sz="3600" spc="-1" strike="noStrike">
                <a:solidFill>
                  <a:schemeClr val="accent1"/>
                </a:solidFill>
                <a:latin typeface="Trebuchet MS"/>
              </a:rPr>
              <a:t>GDPR and OSL</a:t>
            </a: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 law come together with Open Science?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435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i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Under GDPR, processing of sensitive personal data is prohibited, except under certain circumstances (e.g. research)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Under the </a:t>
            </a: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GDPR</a:t>
            </a: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law transfer/sharing of personal data is important under the reason of ”public interest”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i="1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OSL law </a:t>
            </a: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(offentlighets- och sekretesslagen, 2009:400) – public access to information &amp; secrecy act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i="1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Statistiksekretessen (24 kap. 8 §)</a:t>
            </a: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: Confidentiality provision in research-related activities under the </a:t>
            </a:r>
            <a:r>
              <a:rPr b="0" i="1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OSL</a:t>
            </a: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law, in swedish regions &amp; universities 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Secrecy provision applies to research collaborations within, </a:t>
            </a:r>
            <a:r>
              <a:rPr b="0" i="1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but not across</a:t>
            </a: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, borders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Exempted if disclosing info (i.e. sharing data) is according to Swedish interests, or specific agreements / regulations are in place 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" dur="500"/>
                                        <p:tgtEl>
                                          <p:spTgt spid="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3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3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3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How the </a:t>
            </a:r>
            <a:r>
              <a:rPr b="0" i="1" lang="sv-SE" sz="3600" spc="-1" strike="noStrike">
                <a:solidFill>
                  <a:schemeClr val="accent1"/>
                </a:solidFill>
                <a:latin typeface="Trebuchet MS"/>
              </a:rPr>
              <a:t>GDPR and OSL</a:t>
            </a: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 law come together with Open Science?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435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However, not yet in place international agreements for sharing sensitive data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 European level, standard contractual clauses are not applicable in this context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Need to adopt new agreements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Further reading (in Swedish): </a:t>
            </a:r>
            <a:r>
              <a:rPr b="0" i="1" lang="sv-SE" sz="14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1"/>
              </a:rPr>
              <a:t>https://doi.org/10.17044/scilifelab.28882028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GDPR: </a:t>
            </a:r>
            <a:r>
              <a:rPr b="0" i="1" lang="sv-SE" sz="14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2"/>
              </a:rPr>
              <a:t>https://gdpr.eu/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" dur="500"/>
                                        <p:tgtEl>
                                          <p:spTgt spid="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Can sensitive human data be open and be shared?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/>
          </p:nvPr>
        </p:nvSpPr>
        <p:spPr>
          <a:xfrm>
            <a:off x="683640" y="2186640"/>
            <a:ext cx="8589960" cy="385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3333"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Solutions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Anonymization – stripping off any identifier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No longer identifiable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Exempt from GDPR law, data openly accessible &amp; shared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Pseudonymization – replacement of original identifiers with artificial codes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”</a:t>
            </a: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Keys” are stored separately in secure environment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Individuals cannot be directly identified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Under GDPR law, but not automatically considered ”personal data”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Further clarification in this landmark decision (Nov 2025): </a:t>
            </a:r>
            <a:r>
              <a:rPr b="0" lang="sv-SE" sz="14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1"/>
              </a:rPr>
              <a:t>https://www.skadden.com/insights/publications/2025/11/in-a-landmark-decision-eu-court-clarifies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5724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5724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3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Further reading on anonymization: </a:t>
            </a:r>
            <a:endParaRPr b="0" lang="en-US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5724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sv-SE" sz="13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2"/>
              </a:rPr>
              <a:t>https://www.edpb.europa.eu/public-consultations/guidelines-022026-on-anonymisation_en#no-back</a:t>
            </a:r>
            <a:endParaRPr b="0" lang="en-US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5724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3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6" dur="indefinite" restart="never" nodeType="tmRoot">
          <p:childTnLst>
            <p:seq>
              <p:cTn id="127" dur="indefinite" nodeType="mainSeq">
                <p:childTnLst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3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3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3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3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3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3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3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3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Can sensitive human data be open and be shared?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683640" y="2186640"/>
            <a:ext cx="8589960" cy="385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1111"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Solutions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Synthetic data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i="1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Artificially made data resembling original research data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Aggregated genetic data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Aggregation of data resulting in anonymised summary statistics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sv-SE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Federated approaches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Federated European Genome-Phenome Archive (EGA)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  <a:tabLst>
                <a:tab algn="l" pos="0"/>
              </a:tabLst>
            </a:pPr>
            <a:r>
              <a:rPr b="0" lang="en-US" sz="1600" spc="-1" strike="noStrike" u="sng">
                <a:solidFill>
                  <a:schemeClr val="hlink"/>
                </a:solidFill>
                <a:uFillTx/>
                <a:latin typeface="Trebuchet MS"/>
                <a:hlinkClick r:id="rId1"/>
              </a:rPr>
              <a:t>FEGA Sweden</a:t>
            </a:r>
            <a:r>
              <a:rPr b="0" lang="en-US" sz="1600" spc="-1" strike="noStrike" u="sng">
                <a:solidFill>
                  <a:schemeClr val="hlink"/>
                </a:solidFill>
                <a:uFillTx/>
                <a:latin typeface="Trebuchet MS"/>
              </a:rPr>
              <a:t>: </a:t>
            </a: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sensitive data is stored nationally, access upon request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457200"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More info: 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12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2"/>
              </a:rPr>
              <a:t>https://fega.nbis.se/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Cross-border sharing of sensitive human data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432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333"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European Health Data Space Regulation (EHDS)</a:t>
            </a:r>
            <a:endParaRPr b="0" lang="en-US" sz="2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Common framework for the use and exchange of electronic health data across the EU</a:t>
            </a:r>
            <a:endParaRPr b="0" lang="en-US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2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European Digital Infrastructure Consortiums (EDICs)</a:t>
            </a:r>
            <a:endParaRPr b="0" lang="en-US" sz="2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Legal frameworks for multicountry projects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Genome EDIC (</a:t>
            </a:r>
            <a:r>
              <a:rPr b="0" i="1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 prep</a:t>
            </a: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): Cross-boarder genomic data access in Europe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sv-SE" sz="2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1+Million Genomes initiative</a:t>
            </a:r>
            <a:endParaRPr b="0" lang="en-US" sz="2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9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Enables secure access to genomics and the corresponding clinical data across Europe</a:t>
            </a:r>
            <a:endParaRPr b="0" lang="en-US" sz="19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sv-SE" sz="1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More info: </a:t>
            </a: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sv-SE" sz="1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EHDS: </a:t>
            </a:r>
            <a:r>
              <a:rPr b="0" lang="sv-SE" sz="11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1"/>
              </a:rPr>
              <a:t>https://health.ec.europa.eu/ehealth-digital-health-and-care/european-health-data-space-regulation-ehds_en</a:t>
            </a: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sv-SE" sz="1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EDICs: </a:t>
            </a:r>
            <a:r>
              <a:rPr b="0" lang="sv-SE" sz="11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2"/>
              </a:rPr>
              <a:t>https://edics.eu/</a:t>
            </a: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sv-SE" sz="11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1+MG: </a:t>
            </a:r>
            <a:r>
              <a:rPr b="0" lang="sv-SE" sz="1100" spc="-1" strike="noStrike" u="sng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rebuchet MS"/>
                <a:hlinkClick r:id="rId3"/>
              </a:rPr>
              <a:t>https://framework.onemilliongenomes.eu/</a:t>
            </a: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sv-SE" sz="3600" spc="-1" strike="noStrike">
                <a:solidFill>
                  <a:schemeClr val="accent1"/>
                </a:solidFill>
                <a:latin typeface="Trebuchet MS"/>
              </a:rPr>
              <a:t>Questions?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340" name="Picture 2" descr="Minimal workspace - Flat lay view photo of word thank you caligraphy note in a notebook siding with pen on white wooden background. Top View flat lay photography. New year 2018 thank you concept (Provided by Getty Images)"/>
          <p:cNvPicPr/>
          <p:nvPr/>
        </p:nvPicPr>
        <p:blipFill>
          <a:blip r:embed="rId1"/>
          <a:stretch/>
        </p:blipFill>
        <p:spPr>
          <a:xfrm>
            <a:off x="2613240" y="2210760"/>
            <a:ext cx="5295600" cy="353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set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1308</TotalTime>
  <Application>LibreOffice/24.2.7.2$Linux_X86_64 LibreOffice_project/420$Build-2</Application>
  <AppVersion>15.0000</AppVersion>
  <Words>782</Words>
  <Paragraphs>125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2026-09-09T08:41:09Z</dcterms:created>
  <dc:creator>Maria Vrettou</dc:creator>
  <dc:description/>
  <dc:language>en-US</dc:language>
  <cp:lastModifiedBy>Maria Vrettou</cp:lastModifiedBy>
  <dcterms:modified xsi:type="dcterms:W3CDTF">2026-09-11T14:06:14Z</dcterms:modified>
  <cp:revision>28</cp:revision>
  <dc:subject/>
  <dc:title>PowerPoint-presentation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Bredbild</vt:lpwstr>
  </property>
  <property fmtid="{D5CDD505-2E9C-101B-9397-08002B2CF9AE}" pid="3" name="Slides">
    <vt:i4>11</vt:i4>
  </property>
</Properties>
</file>